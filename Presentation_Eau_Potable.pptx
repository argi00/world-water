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400" y="-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585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85FA5">
              <a:alpha val="40000"/>
            </a:srgbClr>
          </a:solidFill>
          <a:ln w="12700">
            <a:solidFill>
              <a:srgbClr val="185FA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185FA5">
              <a:alpha val="30000"/>
            </a:srgbClr>
          </a:solidFill>
          <a:ln w="12700">
            <a:solidFill>
              <a:srgbClr val="185FA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85FA5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5B7EB"/>
                </a:solidFill>
              </a:rPr>
              <a:t>ONG — Eau pour Tous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l'Eau Potable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Monde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Power BI — Identification des pays prioritaires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56432"/>
            <a:ext cx="1371600" cy="457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14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Data Analyst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OMS · FAO · Banque Mondiale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5B7EB"/>
                </a:solidFill>
              </a:rPr>
              <a:t>2024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services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d'accès à l'eau potable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 de services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d'accès à l'eau existants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🏛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auprès 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administrations / gouvernements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du consultant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tableau de bord Power BI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permettant d'identifier les pays prioritaires pour chacun des 3 domaines d'expertise, en s'appuyant sur des indicateurs issus de l'OMS et de la FAO. Le rapport permettra au </a:t>
            </a: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mission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au </a:t>
            </a: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bailleur de fonds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prendre des décisions stratégiques éclairées.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 &amp; Prétraitement Power Query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078992"/>
            <a:ext cx="54864" cy="722376"/>
          </a:xfrm>
          <a:prstGeom prst="roundRect">
            <a:avLst>
              <a:gd name="adj" fmla="val 5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78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BasicAndSafelyManaged.csv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accès eau basique &amp; géré sûrement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pays, année, granularité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084832"/>
            <a:ext cx="54864" cy="722376"/>
          </a:xfrm>
          <a:prstGeom prst="roundRect">
            <a:avLst>
              <a:gd name="adj" fmla="val 5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84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Population.csv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par pays, année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(Total, Urban, Rural, Male, Female)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3090672"/>
            <a:ext cx="54864" cy="722376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90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MortalityRate.csv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4015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mortalité WASH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(données 2016 uniquement)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9472" y="1078992"/>
            <a:ext cx="54864" cy="722376"/>
          </a:xfrm>
          <a:prstGeom prst="roundRect">
            <a:avLst>
              <a:gd name="adj" fmla="val 5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078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PoliticalStability.csv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13898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stabilité politique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(-2.5 à +2.5) par pays/année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0116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2084832"/>
            <a:ext cx="54864" cy="722376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084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RegionCountry.csv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3957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dimensions géographiques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↔ Région OMS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01168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Power Query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Suppression doublons &amp; lignes vides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Typage des colonnes (Int, Decimal, Text)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Renommage des colonnes (noms courts)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Colonne calculée : Gap_Basic_vs_Managed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Colonne calculée : Stability_Category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— Schéma en étoile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91840" y="18288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RegionCountry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COUNTRY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REGION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914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BasicWater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Country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Year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Granularity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Pct_Basic_Water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0" y="91440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914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325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Country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Year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Granularity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Population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PoliticalStability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520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Country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Year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Political_Stability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310896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520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Country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Year (2016)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Mortality_Rate_WASH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1645920"/>
            <a:ext cx="640080" cy="640080"/>
          </a:xfrm>
          <a:prstGeom prst="line">
            <a:avLst/>
          </a:prstGeom>
          <a:noFill/>
          <a:ln w="19050">
            <a:solidFill>
              <a:srgbClr val="0C447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852160" y="1645920"/>
            <a:ext cx="731520" cy="640080"/>
          </a:xfrm>
          <a:prstGeom prst="line">
            <a:avLst/>
          </a:prstGeom>
          <a:noFill/>
          <a:ln w="19050">
            <a:solidFill>
              <a:srgbClr val="0C447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651760" y="3200400"/>
            <a:ext cx="640080" cy="0"/>
          </a:xfrm>
          <a:prstGeom prst="line">
            <a:avLst/>
          </a:prstGeom>
          <a:noFill/>
          <a:ln w="19050">
            <a:solidFill>
              <a:srgbClr val="0C447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852160" y="3200400"/>
            <a:ext cx="731520" cy="0"/>
          </a:xfrm>
          <a:prstGeom prst="line">
            <a:avLst/>
          </a:prstGeom>
          <a:noFill/>
          <a:ln w="19050">
            <a:solidFill>
              <a:srgbClr val="0C447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de jointure : Country (toutes les tables) • Direction du filtre : RegionCountry → tables de faits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DAX créées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051560"/>
            <a:ext cx="64008" cy="1005840"/>
          </a:xfrm>
          <a:prstGeom prst="roundRect">
            <a:avLst>
              <a:gd name="adj" fmla="val 4285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Taux_Acces_Mondial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86200" y="105156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0515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&amp; 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9903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CALCULATE(AVERAGE(BasicWater[pct basic water]),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BasicWater[Granularity] = "Total")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1051560"/>
            <a:ext cx="64008" cy="1005840"/>
          </a:xfrm>
          <a:prstGeom prst="roundRect">
            <a:avLst>
              <a:gd name="adj" fmla="val 42857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Taux_Mortalite_1000hab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105156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0515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&amp; 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74920" y="1371600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39903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CALCULATE(AVERAGE(Mortality[Mortality_Rate]),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Mortality[Granularity] = "Total") / 100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2377440"/>
            <a:ext cx="64008" cy="1005840"/>
          </a:xfrm>
          <a:prstGeom prst="roundRect">
            <a:avLst>
              <a:gd name="adj" fmla="val 4285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Nb_Pays_Critique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86200" y="237744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3774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40080" y="2697480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72491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COUNTROWS(FILTER(VALUES(BasicWater[Country]),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CALCULATE(AVERAGE(...)) &lt; 50))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22860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0328" y="2377440"/>
            <a:ext cx="64008" cy="1005840"/>
          </a:xfrm>
          <a:prstGeom prst="roundRect">
            <a:avLst>
              <a:gd name="adj" fmla="val 4285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Taux_Urbanisation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21040" y="237744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23774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&amp; 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074920" y="2697480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72491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DIVIDE(SUM(Pop[Population] où Urban),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SUM(Pop[Population] où Total)) * 100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6118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" y="3703320"/>
            <a:ext cx="64008" cy="1005840"/>
          </a:xfrm>
          <a:prstGeom prst="roundRect">
            <a:avLst>
              <a:gd name="adj" fmla="val 42857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Gap_Modernisation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86200" y="370332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3703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&amp; 3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40080" y="4023360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05079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[Taux_Acces_Mondial] - [Taux_SafelyManaged]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36118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10328" y="3703320"/>
            <a:ext cx="64008" cy="1005840"/>
          </a:xfrm>
          <a:prstGeom prst="roundRect">
            <a:avLst>
              <a:gd name="adj" fmla="val 42857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Score_Consulting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21040" y="370332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3703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074920" y="4023360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405079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DIVIDE([Taux_Acces_Mondial],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C4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(AVERAGE(PoliticalStability[...]) + 2.5) * 10)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Vue Mondiale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Power BI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350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l'eau basique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eau géré sûrement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265176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/ 1 000 hab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352044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3504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en situation critique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mondiale — Accès à l'eau, mortalité, évolution 2000-2017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282F9E4-0082-7D82-F24B-38459D44F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26" y="924102"/>
            <a:ext cx="5099497" cy="33913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Vue Continentale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Power BI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932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Clustered bar chart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35040" y="12070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d'accès par pays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Line chart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temporelle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35040" y="2084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Map (bulles)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23591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par pays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0" y="2660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Horizontal bar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93522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politique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3236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Stacked bar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351129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Basique vs Géré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3813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⚬  Scatter chart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40873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Urbanisation vs accès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91471D-307D-98D6-3846-83943A2D8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36759"/>
            <a:ext cx="5303520" cy="33360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Vue Nationale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Power BI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0" y="91440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1 — Création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0" y="13167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Accès urbain vs rural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72200" y="16093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Évolution urbanisation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210312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103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2 — Modernisation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72200" y="25054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Basique vs Géré sûrement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27980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Écart Gap_Modernisation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32918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329184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291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3 — Consulting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36941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Stabilité politique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39867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Score_Consulting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10AE6F3-3454-60B6-3723-858B5D357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70" y="914400"/>
            <a:ext cx="4907050" cy="34193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&amp; Interactivité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0698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 / Pays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EAF3F9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972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Dropdown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" y="141732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géographique — sélection d'un continent puis d'un pays. Le slicer pays se filtre automatiquement selon la région choisie.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075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(Année)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2103120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EAF3F9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103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Between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" y="242316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d'une plage d'années (2000–2017). Affecte tous les graphiques temporels et les moyennes calculées.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108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081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Politique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108960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EAF3F9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108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Slider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3000" y="342900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Curseur de -3.31 à +1.97. Permet d'exclure les pays instables — particulièrement utile pour le Domaine 3 (Consulting).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114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087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Infrastructure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74720" y="4114800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EAF3F9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4114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Tile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3000" y="443484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Basculer entre Total / Rural / Urban. Révèle les disparités entre milieux urbains et ruraux pour le Domaine 1.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Power BI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transformation des données sans code — jointures, types, colonnes calculées en interface graphique.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de formules puissant pour créer des mesures dynamiques adaptées aux filtres et slicers.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Visuels natifs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map, scatter, line chart, bar chart — tous les visuels du brief disponibles nativement.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86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natif CSV et Excel — aucune conversion nécessaire pour les 5 fichiers sources du projet.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288036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886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PDF, publication Power BI Service, partage avec le bailleur de fonds en un clic.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♿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886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bleue cohérente, tooltips, taille de police ≥ 10pt, contraste WCAG AA respecté.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85FA5">
              <a:alpha val="35000"/>
            </a:srgbClr>
          </a:solidFill>
          <a:ln w="12700">
            <a:solidFill>
              <a:srgbClr val="185FA5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85FA5">
              <a:alpha val="30000"/>
            </a:srgbClr>
          </a:solidFill>
          <a:ln w="12700">
            <a:solidFill>
              <a:srgbClr val="185FA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371600" cy="457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pages Power BI interactives couvrant les 3 domaines d'expertise de l'ONG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12 mesures DAX créées pour des KPIs précis et dynamiques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filtres interactifs pour une navigation fluide chef de mission / bailleur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Palette bleue accessible — contraste WCAG AA, police ≥ 10pt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Données OMS / FAO de 194 pays sur 18 années (2000–2017)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Eau pour Tous — ONG Internationale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comparative — Pays prioritaires par domaine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1 — Création de services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· Afrique de l'Est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21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eau rural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22219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426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eau total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6426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rurale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3063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 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43814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politique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48386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58768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044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sans eau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39044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315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pop. rurale sans accès + stabilité acceptable = impact maximal.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9144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2 — Modernisation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137160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3756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37560" y="1874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Asie · Asie du Sud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217627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221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eau basique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22219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2596896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6426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eau géré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26426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30175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063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(Gap)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3063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0" y="343814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politique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0" y="348386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3858768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9044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39044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 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91840" y="4315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existent (89%) mais seulement 27% gérés sûrement. Gap 62%.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9144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3 — Consulting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137160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26364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63640" y="1874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· Afrique de l'Ouest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17920" y="217627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2221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eau total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55280" y="22219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17920" y="2596896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26426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politique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955280" y="26426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-1.18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17920" y="30175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3063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WASH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955280" y="3063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70.8/100k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17920" y="343814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Gouvernement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955280" y="348386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17920" y="3858768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3F9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39044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955280" y="39044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 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217920" y="4315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Instabilité modérée + accès insuffisant + mortalité élevée = consulting idéal.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85FA5">
              <a:alpha val="35000"/>
            </a:srgbClr>
          </a:solidFill>
          <a:ln w="12700">
            <a:solidFill>
              <a:srgbClr val="185FA5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185FA5">
              <a:alpha val="30000"/>
            </a:srgbClr>
          </a:solidFill>
          <a:ln w="12700">
            <a:solidFill>
              <a:srgbClr val="185FA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Finale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destination du bailleur de fonds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645920" cy="457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361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PRIORITAIRE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2487168"/>
            <a:ext cx="2560320" cy="320040"/>
          </a:xfrm>
          <a:prstGeom prst="roundRect">
            <a:avLst>
              <a:gd name="adj" fmla="val 22857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87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1 — Création de services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443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eau rural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40280" y="29443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40280" y="3337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sans eau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0" y="29443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3337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politique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priorité D1 : 2 206 (2ème mondial, derrière l'Inde)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selon budget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78308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0F5038"/>
          </a:solidFill>
          <a:ln w="12700">
            <a:solidFill>
              <a:srgbClr val="1D9E7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0" y="2212848"/>
            <a:ext cx="1645920" cy="22860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2128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2 — Modernisation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0" y="2487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61.6%  ·  29M hab  ·  Stab -0.79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60720" y="297180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2A2570"/>
          </a:solidFill>
          <a:ln w="12700">
            <a:solidFill>
              <a:srgbClr val="7F77D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0" y="3401568"/>
            <a:ext cx="1645920" cy="228600"/>
          </a:xfrm>
          <a:prstGeom prst="roundRect">
            <a:avLst>
              <a:gd name="adj" fmla="val 20000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4015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3 — Consulting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43600" y="3675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 -1.18  ·  Mort 70.8/100k  ·  50% accès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0A3460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3159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base de l'analyse de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pays</a:t>
            </a:r>
            <a:r>
              <a:rPr lang="en-US" sz="10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années de données (2000–2017)</a:t>
            </a:r>
            <a:r>
              <a:rPr lang="en-US" sz="10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nous recommandons d'investir en </a:t>
            </a: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— Domaine 1</a:t>
            </a:r>
            <a:r>
              <a:rPr lang="en-US" sz="10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un impact maximal sur l'accès à l'eau potable.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1206</Words>
  <Application>Microsoft Office PowerPoint</Application>
  <PresentationFormat>On-screen Show (16:9)</PresentationFormat>
  <Paragraphs>249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de bord — Accès à l'eau potable dans le monde</dc:title>
  <dc:subject>PptxGenJS Presentation</dc:subject>
  <dc:creator>PptxGenJS</dc:creator>
  <cp:lastModifiedBy>Mamane Argi</cp:lastModifiedBy>
  <cp:revision>2</cp:revision>
  <dcterms:created xsi:type="dcterms:W3CDTF">2026-06-09T20:30:18Z</dcterms:created>
  <dcterms:modified xsi:type="dcterms:W3CDTF">2026-06-09T21:24:53Z</dcterms:modified>
</cp:coreProperties>
</file>